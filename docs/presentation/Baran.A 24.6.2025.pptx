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1" r:id="rId9"/>
    <p:sldId id="262" r:id="rId10"/>
    <p:sldId id="270" r:id="rId11"/>
    <p:sldId id="263" r:id="rId12"/>
    <p:sldId id="267" r:id="rId13"/>
    <p:sldId id="268" r:id="rId14"/>
    <p:sldId id="264" r:id="rId15"/>
    <p:sldId id="265" r:id="rId16"/>
    <p:sldId id="266" r:id="rId17"/>
    <p:sldId id="277" r:id="rId18"/>
    <p:sldId id="269" r:id="rId19"/>
    <p:sldId id="278" r:id="rId20"/>
    <p:sldId id="271" r:id="rId21"/>
    <p:sldId id="275" r:id="rId22"/>
    <p:sldId id="276" r:id="rId23"/>
    <p:sldId id="280" r:id="rId24"/>
    <p:sldId id="281" r:id="rId25"/>
    <p:sldId id="282" r:id="rId26"/>
    <p:sldId id="283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Средний стиль 4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03447BB-5D67-496B-8E87-E561075AD55C}" styleName="Темный стиль 1 -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sha\Desktop\bak24-25\EXT.Kol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sha\Desktop\bak24-25\EXT.Kol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xVal>
            <c:numRef>
              <c:f>'Vytazky 2 (bez RK)'!$A$2:$A$7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xVal>
          <c:yVal>
            <c:numRef>
              <c:f>'Vytazky 2 (bez RK)'!$C$2:$C$7</c:f>
              <c:numCache>
                <c:formatCode>General</c:formatCode>
                <c:ptCount val="6"/>
                <c:pt idx="0">
                  <c:v>96.499204335381648</c:v>
                </c:pt>
                <c:pt idx="1">
                  <c:v>3.6220049001805346</c:v>
                </c:pt>
                <c:pt idx="2">
                  <c:v>1.1179896168183994</c:v>
                </c:pt>
                <c:pt idx="3">
                  <c:v>0.50429726535770802</c:v>
                </c:pt>
                <c:pt idx="4">
                  <c:v>0.33801098859776252</c:v>
                </c:pt>
                <c:pt idx="5">
                  <c:v>0.18559960912652118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670272"/>
        <c:axId val="75672192"/>
      </c:scatterChart>
      <c:valAx>
        <c:axId val="756702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PTK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75672192"/>
        <c:crosses val="autoZero"/>
        <c:crossBetween val="midCat"/>
      </c:valAx>
      <c:valAx>
        <c:axId val="75672192"/>
        <c:scaling>
          <c:orientation val="minMax"/>
          <c:max val="4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800"/>
                </a:pPr>
                <a:r>
                  <a:rPr lang="en-US" sz="1800"/>
                  <a:t>nS/nF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75670272"/>
        <c:crosses val="autoZero"/>
        <c:crossBetween val="midCat"/>
        <c:minorUnit val="1.0000000000000002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xVal>
            <c:numRef>
              <c:f>'Vytazky 2 (bez RK)'!$A$2:$A$7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xVal>
          <c:yVal>
            <c:numRef>
              <c:f>'Vytazky 2 (bez RK)'!$F$2:$F$7</c:f>
              <c:numCache>
                <c:formatCode>0.0000%</c:formatCode>
                <c:ptCount val="6"/>
                <c:pt idx="0">
                  <c:v>1.6126887416413227E-6</c:v>
                </c:pt>
                <c:pt idx="1">
                  <c:v>6.3674031344152684E-5</c:v>
                </c:pt>
                <c:pt idx="2">
                  <c:v>2.0313596754629234E-4</c:v>
                </c:pt>
                <c:pt idx="3">
                  <c:v>4.6199805363214482E-4</c:v>
                </c:pt>
                <c:pt idx="4">
                  <c:v>6.8925744932309195E-4</c:v>
                </c:pt>
                <c:pt idx="5">
                  <c:v>1.2682796050824542E-3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857344"/>
        <c:axId val="80859520"/>
      </c:scatterChart>
      <c:valAx>
        <c:axId val="808573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PTK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80859520"/>
        <c:crosses val="autoZero"/>
        <c:crossBetween val="midCat"/>
      </c:valAx>
      <c:valAx>
        <c:axId val="808595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/>
                  <a:t>Straty IL do Raf.</a:t>
                </a:r>
              </a:p>
            </c:rich>
          </c:tx>
          <c:overlay val="0"/>
        </c:title>
        <c:numFmt formatCode="0.0000%" sourceLinked="1"/>
        <c:majorTickMark val="out"/>
        <c:minorTickMark val="none"/>
        <c:tickLblPos val="nextTo"/>
        <c:crossAx val="8085734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sk-SK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8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05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19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20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75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32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8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83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66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24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75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sk-SK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sk-SK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01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7772400" cy="2304255"/>
          </a:xfrm>
        </p:spPr>
        <p:txBody>
          <a:bodyPr>
            <a:noAutofit/>
          </a:bodyPr>
          <a:lstStyle/>
          <a:p>
            <a:r>
              <a:rPr lang="sk-SK" sz="3600" b="1" dirty="0" smtClean="0">
                <a:latin typeface="Times New Roman" pitchFamily="18" charset="0"/>
                <a:cs typeface="Times New Roman" pitchFamily="18" charset="0"/>
              </a:rPr>
              <a:t>SEPARÁCIA ZLOŽIEK ZMESI TVORIACICH AZEOTROP POMOCOU IÓNOVEJ KVAPALINY</a:t>
            </a:r>
            <a:endParaRPr lang="sk-SK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573016"/>
            <a:ext cx="6400800" cy="2065784"/>
          </a:xfrm>
        </p:spPr>
        <p:txBody>
          <a:bodyPr>
            <a:normAutofit fontScale="70000" lnSpcReduction="20000"/>
          </a:bodyPr>
          <a:lstStyle/>
          <a:p>
            <a:r>
              <a:rPr lang="sk-SK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Slovenská technická univerzita v Bratislave</a:t>
            </a:r>
            <a:br>
              <a:rPr lang="sk-SK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sk-SK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Fakulta chemickej a potravinárskej technológie</a:t>
            </a:r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sk-SK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Oddelenie chemického a biochemického inžinierstva</a:t>
            </a:r>
            <a:endParaRPr lang="sk-SK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sk-SK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Autor: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Aliaksandr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Baran</a:t>
            </a:r>
            <a:r>
              <a:rPr lang="sk-SK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sk-SK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sk-SK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Školiteľ: doc. Ing. Pavol Steltenpohl, PhD.</a:t>
            </a:r>
          </a:p>
          <a:p>
            <a:endParaRPr lang="sk-SK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03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smtClean="0">
                <a:latin typeface="+mn-lt"/>
                <a:cs typeface="Times New Roman" pitchFamily="18" charset="0"/>
              </a:rPr>
              <a:t>CIELE PRÁCE</a:t>
            </a:r>
            <a:endParaRPr lang="sk-SK" dirty="0">
              <a:latin typeface="+mn-lt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sk-SK" dirty="0" smtClean="0"/>
              <a:t>Zvoliť </a:t>
            </a:r>
            <a:r>
              <a:rPr lang="sk-SK" dirty="0"/>
              <a:t>priemyselnú zmes tvoriacu azeotrop</a:t>
            </a:r>
            <a:r>
              <a:rPr lang="ru-RU" dirty="0"/>
              <a:t> </a:t>
            </a:r>
          </a:p>
          <a:p>
            <a:pPr fontAlgn="base"/>
            <a:r>
              <a:rPr lang="sk-SK" dirty="0" smtClean="0"/>
              <a:t>Určiť </a:t>
            </a:r>
            <a:r>
              <a:rPr lang="sk-SK" dirty="0"/>
              <a:t>efektívnu iónovú kvapalinu pre separáciu</a:t>
            </a:r>
            <a:r>
              <a:rPr lang="ru-RU" dirty="0"/>
              <a:t> </a:t>
            </a:r>
          </a:p>
          <a:p>
            <a:pPr fontAlgn="base"/>
            <a:r>
              <a:rPr lang="sk-SK" dirty="0" smtClean="0"/>
              <a:t>Navrhnúť </a:t>
            </a:r>
            <a:r>
              <a:rPr lang="sk-SK" dirty="0"/>
              <a:t>separačný proces s nasledujúcim regenerovaním iónovej kvapaliny</a:t>
            </a:r>
            <a:r>
              <a:rPr lang="ru-RU" dirty="0"/>
              <a:t> </a:t>
            </a:r>
          </a:p>
          <a:p>
            <a:pPr fontAlgn="base"/>
            <a:r>
              <a:rPr lang="sk-SK" dirty="0" smtClean="0"/>
              <a:t>Spočítať </a:t>
            </a:r>
            <a:r>
              <a:rPr lang="sk-SK" dirty="0"/>
              <a:t>vybrane investičné a prevádzkové náklady navrhnutého procesu</a:t>
            </a:r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3007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</a:t>
            </a:r>
            <a:r>
              <a:rPr lang="sk-SK" b="1" dirty="0" smtClean="0"/>
              <a:t>etyl-terc-butyléter</a:t>
            </a:r>
            <a:endParaRPr lang="sk-SK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Používa sa ako prísada pre zvýšenie oktánového čísla </a:t>
            </a:r>
            <a:r>
              <a:rPr lang="sk-SK" dirty="0" smtClean="0"/>
              <a:t>paliva</a:t>
            </a:r>
            <a:endParaRPr lang="en-US" dirty="0" smtClean="0"/>
          </a:p>
          <a:p>
            <a:r>
              <a:rPr lang="sk-SK" dirty="0" smtClean="0"/>
              <a:t>Čistý</a:t>
            </a:r>
            <a:r>
              <a:rPr lang="sk-SK" i="1" dirty="0"/>
              <a:t> </a:t>
            </a:r>
            <a:r>
              <a:rPr lang="sk-SK" dirty="0"/>
              <a:t>MTBE je využiteľný v HPLC a </a:t>
            </a:r>
            <a:r>
              <a:rPr lang="sk-SK" dirty="0" smtClean="0"/>
              <a:t>farmaceutike</a:t>
            </a:r>
            <a:endParaRPr lang="en-US" dirty="0" smtClean="0"/>
          </a:p>
          <a:p>
            <a:r>
              <a:rPr lang="sk-SK" dirty="0"/>
              <a:t>Výroba sa syntézou metanolu s izobuténom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="" xmlns:a16="http://schemas.microsoft.com/office/drawing/2014/main" id="{EC10D9F4-0A79-1503-B9A8-7BD0AB72FEF1}"/>
              </a:ext>
            </a:extLst>
          </p:cNvPr>
          <p:cNvSpPr txBox="1">
            <a:spLocks/>
          </p:cNvSpPr>
          <p:nvPr/>
        </p:nvSpPr>
        <p:spPr>
          <a:xfrm>
            <a:off x="-27565" y="186926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6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VÝPOČTOVÁ ČASŤ A VÝSLEDKY PRÁCE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927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SIMULÁCIA</a:t>
            </a:r>
            <a:r>
              <a:rPr lang="en-US" dirty="0" smtClean="0"/>
              <a:t> </a:t>
            </a:r>
            <a:r>
              <a:rPr lang="sk-SK" b="1" dirty="0" smtClean="0"/>
              <a:t>ROVNOVÁHY</a:t>
            </a:r>
            <a:endParaRPr lang="sk-SK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sk-SK" dirty="0"/>
                  <a:t>Rovnováhu kvapalina-kvapalina opíšeme pomocou izoaktivitnej podmienky.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Na opis rovnováhy kvapalina-para použijeme rozšírený Raoultov zákon.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Aplikácia modelu NRTL pre výpočet aktivitných koeficientov.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Pri simulácii platí sumačná podmienka mólových zlomkov</a:t>
                </a:r>
                <a:r>
                  <a:rPr lang="sk-SK" dirty="0" smtClean="0"/>
                  <a:t>.</a:t>
                </a:r>
                <a:r>
                  <a:rPr lang="en-US" dirty="0" smtClean="0"/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sk-SK" i="1">
                            <a:latin typeface="Cambria Math"/>
                          </a:rPr>
                        </m:ctrlPr>
                      </m:sSubSupPr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sk-SK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nary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  <m:sup/>
                    </m:sSubSup>
                    <m:r>
                      <a:rPr lang="en-US" i="1">
                        <a:latin typeface="Cambria Math"/>
                      </a:rPr>
                      <m:t>=1 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sk-SK" i="1">
                            <a:latin typeface="Cambria Math"/>
                          </a:rPr>
                        </m:ctrlPr>
                      </m:sSubSupPr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sk-SK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</m:nary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  <m:sup/>
                    </m:sSubSup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endParaRPr lang="en-US" dirty="0" smtClean="0"/>
              </a:p>
              <a:p>
                <a:pPr fontAlgn="base"/>
                <a:endParaRPr lang="ru-RU" dirty="0"/>
              </a:p>
              <a:p>
                <a:endParaRPr lang="sk-SK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815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23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8600"/>
            <a:ext cx="9144000" cy="68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70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SIMULÁCIA</a:t>
            </a:r>
            <a:r>
              <a:rPr lang="en-US" dirty="0" smtClean="0"/>
              <a:t> </a:t>
            </a:r>
            <a:r>
              <a:rPr lang="en-US" b="1" dirty="0" smtClean="0"/>
              <a:t>EXTRAKTORA</a:t>
            </a:r>
            <a:endParaRPr lang="sk-S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fontAlgn="base"/>
                <a:r>
                  <a:rPr lang="sk-SK" dirty="0"/>
                  <a:t>Predpoklad dosiahnutia rovnováhy pri každom kontakte.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Matematicky model predstavuje zostavenie rovníc celkových materiálových bilancii, materiálových bilancii pre každú zložku na každej etáže.</a:t>
                </a:r>
                <a:r>
                  <a:rPr lang="ru-RU" dirty="0"/>
                  <a:t> </a:t>
                </a:r>
              </a:p>
              <a:p>
                <a:pPr fontAlgn="base">
                  <a:lnSpc>
                    <a:spcPct val="120000"/>
                  </a:lnSpc>
                </a:pPr>
                <a:r>
                  <a:rPr lang="sk-SK" dirty="0"/>
                  <a:t>Pre zníženie poctu premenných zavedieme rovnovážny pomer.</a:t>
                </a:r>
                <a:r>
                  <a:rPr lang="ru-RU" dirty="0"/>
                  <a:t> 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sk-SK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k-SK" i="1"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sk-SK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𝐸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k-SK" i="1"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sk-SK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 smtClean="0"/>
              </a:p>
              <a:p>
                <a:pPr fontAlgn="base"/>
                <a:r>
                  <a:rPr lang="sk-SK" dirty="0" smtClean="0"/>
                  <a:t>Zvolíme </a:t>
                </a:r>
                <a:r>
                  <a:rPr lang="sk-SK" dirty="0"/>
                  <a:t>nastrely mólových tokov extraktov a rafinátov aj rovnovážne pomere pre jednotlivé etáži.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Riešime matice nelineárnych algebrických rovníc pre každú zložku.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sk-SK" dirty="0"/>
                  <a:t>Pomocou rovnice NRTL vypočítame rovnovážne zlozenia.</a:t>
                </a:r>
                <a:r>
                  <a:rPr lang="ru-RU" dirty="0"/>
                  <a:t> </a:t>
                </a:r>
              </a:p>
              <a:p>
                <a:pPr fontAlgn="base"/>
                <a:r>
                  <a:rPr lang="en-US" dirty="0"/>
                  <a:t>I</a:t>
                </a:r>
                <a:r>
                  <a:rPr lang="sk-SK" dirty="0" smtClean="0"/>
                  <a:t>teračný </a:t>
                </a:r>
                <a:r>
                  <a:rPr lang="sk-SK" dirty="0"/>
                  <a:t>výpočet sme vykonávali až dokým súčty mólových zlomkov v rafináte a extrakte neboli rovné jednej.</a:t>
                </a:r>
                <a:r>
                  <a:rPr lang="ru-RU" dirty="0"/>
                  <a:t> </a:t>
                </a:r>
              </a:p>
              <a:p>
                <a:endParaRPr lang="sk-SK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156" r="-51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00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2800" dirty="0" smtClean="0"/>
              <a:t> </a:t>
            </a:r>
            <a:r>
              <a:rPr lang="sk-SK" sz="2800" dirty="0"/>
              <a:t>Mólové toky a rovnovážne zloženia prúdov v extraktore </a:t>
            </a:r>
            <a:r>
              <a:rPr lang="en-US" sz="2800" dirty="0" smtClean="0"/>
              <a:t>s </a:t>
            </a:r>
            <a:r>
              <a:rPr lang="sk-SK" sz="2800" dirty="0" smtClean="0"/>
              <a:t>čistou </a:t>
            </a:r>
            <a:r>
              <a:rPr lang="sk-SK" sz="2800" dirty="0"/>
              <a:t>iónovou kvapalinou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6461137"/>
                  </p:ext>
                </p:extLst>
              </p:nvPr>
            </p:nvGraphicFramePr>
            <p:xfrm>
              <a:off x="126108" y="1412777"/>
              <a:ext cx="8910390" cy="52728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7676"/>
                    <a:gridCol w="1159984"/>
                    <a:gridCol w="888099"/>
                    <a:gridCol w="888099"/>
                    <a:gridCol w="888099"/>
                    <a:gridCol w="1224136"/>
                    <a:gridCol w="888099"/>
                    <a:gridCol w="888099"/>
                    <a:gridCol w="888099"/>
                  </a:tblGrid>
                  <a:tr h="720079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Teoretický kontakt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Rafinát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Extrakt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</a:tr>
                  <a:tr h="576064">
                    <a:tc v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sk-SK" sz="1800" i="1">
                                      <a:effectLst/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sk-SK" sz="1800">
                                      <a:effectLst/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acc>
                            </m:oMath>
                          </a14:m>
                          <a:r>
                            <a:rPr lang="sk-SK" sz="1800" dirty="0">
                              <a:effectLst/>
                              <a:latin typeface="+mn-lt"/>
                            </a:rPr>
                            <a:t> [kmol/h]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A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  <a:latin typeface="+mn-lt"/>
                            </a:rPr>
                            <a:t>B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  <a:latin typeface="+mn-lt"/>
                            </a:rPr>
                            <a:t>C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sk-SK" sz="1800" i="1">
                                      <a:effectLst/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sk-SK" sz="1800">
                                      <a:effectLst/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acc>
                            </m:oMath>
                          </a14:m>
                          <a:r>
                            <a:rPr lang="sk-SK" sz="1800" baseline="-25000"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sk-SK" sz="1800">
                              <a:effectLst/>
                              <a:latin typeface="+mn-lt"/>
                            </a:rPr>
                            <a:t>[kmol/h]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A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B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C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1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317,09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0,8635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0,1352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439,59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0,0362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0,5557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0,4081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2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279,63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0,9710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0,0284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0,0006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225,55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0,0129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0,1899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0,7972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3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272,98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0,9938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0,0057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188,09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0,0032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0,0420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0,9547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4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271,68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0,9984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0,0011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181,44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0,0021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0,0083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0,9895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5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271,08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0,9994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0,0002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180,14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0,9967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6461137"/>
                  </p:ext>
                </p:extLst>
              </p:nvPr>
            </p:nvGraphicFramePr>
            <p:xfrm>
              <a:off x="126108" y="1412777"/>
              <a:ext cx="8910390" cy="52728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7676"/>
                    <a:gridCol w="1159984"/>
                    <a:gridCol w="888099"/>
                    <a:gridCol w="888099"/>
                    <a:gridCol w="888099"/>
                    <a:gridCol w="1224136"/>
                    <a:gridCol w="888099"/>
                    <a:gridCol w="888099"/>
                    <a:gridCol w="888099"/>
                  </a:tblGrid>
                  <a:tr h="720079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Teoretický kontakt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Rafinát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Extrakt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</a:tr>
                  <a:tr h="576064">
                    <a:tc v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03141" t="-125263" r="-562827" b="-68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A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  <a:latin typeface="+mn-lt"/>
                            </a:rPr>
                            <a:t>B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  <a:latin typeface="+mn-lt"/>
                            </a:rPr>
                            <a:t>C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409950" t="-125263" r="-217910" b="-68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A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B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  <a:latin typeface="+mn-lt"/>
                            </a:rPr>
                            <a:t>C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1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317,09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0,8635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0,1352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439,59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0,0362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0,5557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0,4081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2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279,63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0,9710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0,0284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0,0006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225,55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0,0129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0,1899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0,7972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3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272,98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0,9938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0,0057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188,09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0,0032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0,0420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0,9547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4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271,68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0,9984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0,0011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181,44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0,0021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0,0083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0,9895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95348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b="1" dirty="0">
                              <a:effectLst/>
                              <a:latin typeface="+mn-lt"/>
                            </a:rPr>
                            <a:t>5</a:t>
                          </a:r>
                          <a:endParaRPr lang="sk-SK" sz="1800" b="1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271,08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0,9994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0,0002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  <a:latin typeface="+mn-lt"/>
                            </a:rPr>
                            <a:t>180,14</a:t>
                          </a:r>
                          <a:endParaRPr lang="sk-SK" sz="180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0,0019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0,0014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  <a:latin typeface="+mn-lt"/>
                            </a:rPr>
                            <a:t>0,9967</a:t>
                          </a:r>
                          <a:endParaRPr lang="sk-SK" sz="18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474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2800" dirty="0"/>
              <a:t>Mólové toky a rovnovážne zloženia prúdov v extraktore v prípade použitia regenerovanej 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Объект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0878075"/>
                  </p:ext>
                </p:extLst>
              </p:nvPr>
            </p:nvGraphicFramePr>
            <p:xfrm>
              <a:off x="178495" y="1412777"/>
              <a:ext cx="8785992" cy="51125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33223"/>
                    <a:gridCol w="1188074"/>
                    <a:gridCol w="841811"/>
                    <a:gridCol w="841811"/>
                    <a:gridCol w="841811"/>
                    <a:gridCol w="1146974"/>
                    <a:gridCol w="864096"/>
                    <a:gridCol w="864096"/>
                    <a:gridCol w="864096"/>
                  </a:tblGrid>
                  <a:tr h="730367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Teoretický kontakt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Rafinát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Extrakt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</a:tr>
                  <a:tr h="730367">
                    <a:tc v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sk-SK" sz="1800" i="1">
                                      <a:effectLst/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sk-SK" sz="1800">
                                      <a:effectLst/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acc>
                            </m:oMath>
                          </a14:m>
                          <a:r>
                            <a:rPr lang="sk-SK" sz="1800" dirty="0">
                              <a:effectLst/>
                            </a:rPr>
                            <a:t> [kmol/h]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A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B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C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sk-SK" sz="1800" i="1">
                                      <a:effectLst/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sk-SK" sz="1800">
                                      <a:effectLst/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acc>
                            </m:oMath>
                          </a14:m>
                          <a:r>
                            <a:rPr lang="sk-SK" sz="1800">
                              <a:effectLst/>
                            </a:rPr>
                            <a:t> [kmol/h]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A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B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C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334,73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0,8635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0,1352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0,0013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619,15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0,0362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0,5557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0,4081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293,90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0,9756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0,0238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305,91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0,0103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0,1622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0,8274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3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288,37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0,9937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0,0058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265,08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0,0033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0,0429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0,9539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287,56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0,9964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0,0031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259,55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0,0026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0,0233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0,9741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287,21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0,9968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0,0027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258,74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0,0025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0,0204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0,9771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Объект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0878075"/>
                  </p:ext>
                </p:extLst>
              </p:nvPr>
            </p:nvGraphicFramePr>
            <p:xfrm>
              <a:off x="178495" y="1412777"/>
              <a:ext cx="8785992" cy="51125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33223"/>
                    <a:gridCol w="1188074"/>
                    <a:gridCol w="841811"/>
                    <a:gridCol w="841811"/>
                    <a:gridCol w="841811"/>
                    <a:gridCol w="1146974"/>
                    <a:gridCol w="864096"/>
                    <a:gridCol w="864096"/>
                    <a:gridCol w="864096"/>
                  </a:tblGrid>
                  <a:tr h="730367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Teoretický kontakt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Rafinát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Extrakt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</a:tr>
                  <a:tr h="730367">
                    <a:tc vMerge="1"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12308" t="-101681" r="-527179" b="-504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A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B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C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438095" t="-101681" r="-224868" b="-504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x</a:t>
                          </a:r>
                          <a:r>
                            <a:rPr lang="sk-SK" sz="1800" baseline="-25000" dirty="0">
                              <a:effectLst/>
                            </a:rPr>
                            <a:t>A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B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x</a:t>
                          </a:r>
                          <a:r>
                            <a:rPr lang="sk-SK" sz="1800" baseline="-25000">
                              <a:effectLst/>
                            </a:rPr>
                            <a:t>C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334,73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0,8635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0,1352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0,0013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619,15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0,0362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0,5557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0,4081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293,90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0,9756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0,0238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305,91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0,0103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0,1622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0,8274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3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288,37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0,9937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0,0058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265,08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0,0033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0,0429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0,9539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287,56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0,9964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0,0031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259,55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0,0026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0,0233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0,9741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73036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287,21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0,9968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0,0027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0,0005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258,74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>
                              <a:effectLst/>
                            </a:rPr>
                            <a:t>0,0025</a:t>
                          </a:r>
                          <a:endParaRPr lang="sk-SK" sz="18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0,0204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1800" dirty="0">
                              <a:effectLst/>
                            </a:rPr>
                            <a:t>0,9771</a:t>
                          </a:r>
                          <a:endParaRPr lang="sk-SK" sz="1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27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sk-SK" sz="2800" dirty="0"/>
              <a:t>Parametre extrakčnej kolóny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271477"/>
              </p:ext>
            </p:extLst>
          </p:nvPr>
        </p:nvGraphicFramePr>
        <p:xfrm>
          <a:off x="395536" y="1844827"/>
          <a:ext cx="8291264" cy="2542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19819"/>
                <a:gridCol w="2671445"/>
              </a:tblGrid>
              <a:tr h="5084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Počet kontaktov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5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84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Celková výška kolóny [m]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84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Výška kontaktu [m]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0,6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84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Priemer kolóny [m]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84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Priemerná teplota v kolóne [</a:t>
                      </a:r>
                      <a:r>
                        <a:rPr lang="sk-SK" sz="2000" baseline="30000">
                          <a:effectLst/>
                        </a:rPr>
                        <a:t>o</a:t>
                      </a:r>
                      <a:r>
                        <a:rPr lang="sk-SK" sz="2000">
                          <a:effectLst/>
                        </a:rPr>
                        <a:t>C]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45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63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44207" cy="5231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84168" y="476672"/>
            <a:ext cx="3059831" cy="1656184"/>
          </a:xfrm>
        </p:spPr>
        <p:txBody>
          <a:bodyPr>
            <a:normAutofit fontScale="90000"/>
          </a:bodyPr>
          <a:lstStyle/>
          <a:p>
            <a:r>
              <a:rPr lang="sk-SK" dirty="0"/>
              <a:t>Opis navrhnutého procesu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80" y="2276872"/>
            <a:ext cx="2880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H-1, H-2 – </a:t>
            </a:r>
            <a:r>
              <a:rPr lang="en-US" dirty="0" err="1"/>
              <a:t>ohrievač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D-1</a:t>
            </a:r>
            <a:r>
              <a:rPr lang="en-US" dirty="0"/>
              <a:t>, D-2 – </a:t>
            </a:r>
            <a:r>
              <a:rPr lang="en-US" dirty="0" err="1"/>
              <a:t>odparka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V-1</a:t>
            </a:r>
            <a:r>
              <a:rPr lang="en-US" dirty="0"/>
              <a:t>, V-2, V-3 – </a:t>
            </a:r>
            <a:r>
              <a:rPr lang="en-US" dirty="0" err="1"/>
              <a:t>škrtiaci</a:t>
            </a:r>
            <a:r>
              <a:rPr lang="en-US" dirty="0"/>
              <a:t> </a:t>
            </a:r>
            <a:r>
              <a:rPr lang="en-US" dirty="0" err="1"/>
              <a:t>ventil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SF </a:t>
            </a:r>
            <a:r>
              <a:rPr lang="en-US" dirty="0"/>
              <a:t>– </a:t>
            </a:r>
            <a:r>
              <a:rPr lang="en-US" dirty="0" err="1"/>
              <a:t>separátor</a:t>
            </a:r>
            <a:r>
              <a:rPr lang="en-US" dirty="0"/>
              <a:t> </a:t>
            </a:r>
            <a:r>
              <a:rPr lang="en-US" dirty="0" err="1"/>
              <a:t>fáz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dirty="0"/>
              <a:t>P-1, P-2, P-3, P-4, </a:t>
            </a:r>
            <a:r>
              <a:rPr lang="en-US" dirty="0" smtClean="0"/>
              <a:t>P-5,</a:t>
            </a:r>
          </a:p>
          <a:p>
            <a:r>
              <a:rPr lang="en-US" dirty="0" smtClean="0"/>
              <a:t> </a:t>
            </a:r>
            <a:r>
              <a:rPr lang="en-US" dirty="0"/>
              <a:t>P-6 – </a:t>
            </a:r>
            <a:r>
              <a:rPr lang="en-US" dirty="0" err="1"/>
              <a:t>čerpadlo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K-1</a:t>
            </a:r>
            <a:r>
              <a:rPr lang="en-US" dirty="0"/>
              <a:t>, K-2, K-3 – </a:t>
            </a:r>
            <a:r>
              <a:rPr lang="en-US" dirty="0" err="1"/>
              <a:t>kondenzátor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M-1</a:t>
            </a:r>
            <a:r>
              <a:rPr lang="en-US" dirty="0"/>
              <a:t>, M-2 – </a:t>
            </a:r>
            <a:r>
              <a:rPr lang="en-US" dirty="0" err="1"/>
              <a:t>miešač</a:t>
            </a:r>
            <a:r>
              <a:rPr lang="en-US" dirty="0"/>
              <a:t>.</a:t>
            </a:r>
            <a:endParaRPr lang="sk-SK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5373216"/>
            <a:ext cx="87129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400" dirty="0"/>
              <a:t>Prúdy: 1 – surovina; 2 a 3 – ohriata surovina na vstupe </a:t>
            </a:r>
            <a:r>
              <a:rPr lang="en-US" sz="1400" dirty="0" smtClean="0"/>
              <a:t> </a:t>
            </a:r>
            <a:r>
              <a:rPr lang="sk-SK" sz="1400" dirty="0" smtClean="0"/>
              <a:t>do </a:t>
            </a:r>
            <a:r>
              <a:rPr lang="sk-SK" sz="1400" dirty="0"/>
              <a:t>extraktora; 4 – čerstvá IL; 5 – regenerovaná IL na vstupe do extraktora; 6 – finálny extrakt; 7 – ohriaty extrakt; 8 –parokvapalná zmes po redukcii tlaku na 50 kPa; 9, 10, 11 – skondenzované pary MTBE a metanolu recirkulované do miešača M-1; 12 – kvapalný zvyšok zo separátora fáz </a:t>
            </a:r>
            <a:r>
              <a:rPr lang="sk-SK" sz="1400" dirty="0" smtClean="0"/>
              <a:t>na </a:t>
            </a:r>
            <a:r>
              <a:rPr lang="sk-SK" sz="1400" dirty="0"/>
              <a:t>vstupe do odparky D-1; 13, 14, 15 – prúd produktu metanol; 16, 17 – regenerovaná IL s čistotou 98 mól.% privádzaná do miešača IL M-2; 18 – rafinát z extraktora; 19 – parokvapalná zmes rafinátu po redukcii tlaku na 73,5 kPa; 20, 21 ,22 – prúd produktu MTBE; 23, 24 – zvyšok </a:t>
            </a:r>
            <a:r>
              <a:rPr lang="sk-SK" sz="1400" dirty="0" smtClean="0"/>
              <a:t>s </a:t>
            </a:r>
            <a:r>
              <a:rPr lang="sk-SK" sz="1400" dirty="0"/>
              <a:t>obsahom 25 mól.% IL sa vracia do miešača IL M-2.</a:t>
            </a:r>
          </a:p>
        </p:txBody>
      </p:sp>
    </p:spTree>
    <p:extLst>
      <p:ext uri="{BB962C8B-B14F-4D97-AF65-F5344CB8AC3E}">
        <p14:creationId xmlns:p14="http://schemas.microsoft.com/office/powerpoint/2010/main" val="394596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4000" b="1" dirty="0"/>
              <a:t>SIMULÁCIA </a:t>
            </a:r>
            <a:r>
              <a:rPr lang="sk-SK" sz="4000" b="1" dirty="0" smtClean="0"/>
              <a:t>ŠKRTIACEHO </a:t>
            </a:r>
            <a:r>
              <a:rPr lang="sk-SK" sz="4000" b="1" dirty="0"/>
              <a:t>VENTILU</a:t>
            </a:r>
            <a:endParaRPr lang="sk-SK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2400" dirty="0"/>
              <a:t>Na začiatku sme stanovili počiatočné hodnoty mólových zlomkov MTBE a iónovej kvapaliny v odchádzajúcej kvapalnej fáze, ako aj predpokladanú teplotu odchádzajúcich prúdov</a:t>
            </a:r>
            <a:r>
              <a:rPr lang="sk-SK" sz="2400" dirty="0" smtClean="0"/>
              <a:t>.</a:t>
            </a:r>
            <a:endParaRPr lang="en-US" sz="2400" dirty="0" smtClean="0"/>
          </a:p>
          <a:p>
            <a:r>
              <a:rPr lang="sk-SK" sz="2400" dirty="0"/>
              <a:t>V rámci každého iteratívneho kroku sa najprv vypočíta zloženie odchádzajúcej plynnej fázy, pričom sa súčasne upravuje teplota odchádzajúcich prúdov. </a:t>
            </a:r>
            <a:endParaRPr lang="en-US" sz="2400" dirty="0" smtClean="0"/>
          </a:p>
          <a:p>
            <a:r>
              <a:rPr lang="sk-SK" sz="2400" dirty="0"/>
              <a:t>Následne sa rieši</a:t>
            </a:r>
            <a:r>
              <a:rPr lang="en-US" sz="2400" dirty="0" smtClean="0"/>
              <a:t> </a:t>
            </a:r>
            <a:r>
              <a:rPr lang="sk-SK" sz="2400" dirty="0" smtClean="0"/>
              <a:t>entalpick</a:t>
            </a:r>
            <a:r>
              <a:rPr lang="sk-SK" sz="2400" dirty="0"/>
              <a:t>á</a:t>
            </a:r>
            <a:r>
              <a:rPr lang="sk-SK" sz="2400" dirty="0" smtClean="0"/>
              <a:t> bilanci</a:t>
            </a:r>
            <a:r>
              <a:rPr lang="en-US" sz="2400" dirty="0" smtClean="0"/>
              <a:t>a</a:t>
            </a:r>
            <a:r>
              <a:rPr lang="sk-SK" sz="2400" dirty="0" smtClean="0"/>
              <a:t>, </a:t>
            </a:r>
            <a:r>
              <a:rPr lang="sk-SK" sz="2400" dirty="0"/>
              <a:t>čo vedie k novému odhadu zloženia odchádzajúceho kvapalného prúdu</a:t>
            </a:r>
            <a:r>
              <a:rPr lang="sk-SK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P</a:t>
            </a:r>
            <a:r>
              <a:rPr lang="sk-SK" sz="2400" dirty="0" smtClean="0"/>
              <a:t>roces </a:t>
            </a:r>
            <a:r>
              <a:rPr lang="sk-SK" sz="2400" dirty="0"/>
              <a:t>iterácie pokračoval až do momentu, keď dva po sebe nasledujúce</a:t>
            </a:r>
            <a:r>
              <a:rPr lang="sk-SK" sz="2400" dirty="0" smtClean="0"/>
              <a:t> </a:t>
            </a:r>
            <a:r>
              <a:rPr lang="sk-SK" sz="2400" dirty="0"/>
              <a:t>výpočty poskytli rovnaké</a:t>
            </a:r>
            <a:r>
              <a:rPr lang="sk-SK" sz="2400" dirty="0" smtClean="0"/>
              <a:t> </a:t>
            </a:r>
            <a:r>
              <a:rPr lang="sk-SK" sz="2400" dirty="0"/>
              <a:t>výsledky.</a:t>
            </a:r>
          </a:p>
        </p:txBody>
      </p:sp>
    </p:spTree>
    <p:extLst>
      <p:ext uri="{BB962C8B-B14F-4D97-AF65-F5344CB8AC3E}">
        <p14:creationId xmlns:p14="http://schemas.microsoft.com/office/powerpoint/2010/main" val="401264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Teplota</a:t>
            </a:r>
            <a:r>
              <a:rPr lang="en-US" sz="2800" dirty="0" smtClean="0"/>
              <a:t>, </a:t>
            </a:r>
            <a:r>
              <a:rPr lang="en-US" sz="2800" dirty="0" err="1" smtClean="0"/>
              <a:t>tlak</a:t>
            </a:r>
            <a:r>
              <a:rPr lang="en-US" sz="2800" dirty="0" smtClean="0"/>
              <a:t>, </a:t>
            </a:r>
            <a:r>
              <a:rPr lang="en-US" sz="2800" dirty="0"/>
              <a:t>m</a:t>
            </a:r>
            <a:r>
              <a:rPr lang="sk-SK" sz="2800" dirty="0" smtClean="0"/>
              <a:t>ólové toky a zloženia prúdov</a:t>
            </a:r>
            <a:r>
              <a:rPr lang="en-US" sz="2800" dirty="0" smtClean="0"/>
              <a:t> </a:t>
            </a:r>
            <a:r>
              <a:rPr lang="sk-SK" sz="2800" dirty="0" smtClean="0"/>
              <a:t>škrtiaceho ventilu </a:t>
            </a:r>
            <a:r>
              <a:rPr lang="en-US" sz="2800" dirty="0"/>
              <a:t>V</a:t>
            </a:r>
            <a:r>
              <a:rPr lang="en-US" sz="2800" dirty="0" smtClean="0"/>
              <a:t>-1</a:t>
            </a:r>
            <a:endParaRPr lang="sk-SK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638703"/>
              </p:ext>
            </p:extLst>
          </p:nvPr>
        </p:nvGraphicFramePr>
        <p:xfrm>
          <a:off x="467542" y="1556790"/>
          <a:ext cx="8208916" cy="4800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9172"/>
                <a:gridCol w="2052228"/>
                <a:gridCol w="1539172"/>
                <a:gridCol w="1539172"/>
                <a:gridCol w="1539172"/>
              </a:tblGrid>
              <a:tr h="685800">
                <a:tc>
                  <a:txBody>
                    <a:bodyPr/>
                    <a:lstStyle/>
                    <a:p>
                      <a:pPr algn="ctr" fontAlgn="ctr"/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t [</a:t>
                      </a:r>
                      <a:r>
                        <a:rPr lang="sk-SK" sz="2000" u="none" strike="noStrike" baseline="30000" dirty="0">
                          <a:effectLst/>
                        </a:rPr>
                        <a:t>o</a:t>
                      </a:r>
                      <a:r>
                        <a:rPr lang="sk-SK" sz="2000" u="none" strike="noStrike" dirty="0">
                          <a:effectLst/>
                        </a:rPr>
                        <a:t>C]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p [Pa]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 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Vstup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68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101</a:t>
                      </a:r>
                      <a:r>
                        <a:rPr lang="en-US" sz="2000" u="none" strike="noStrike" dirty="0" smtClean="0">
                          <a:effectLst/>
                        </a:rPr>
                        <a:t> </a:t>
                      </a:r>
                      <a:r>
                        <a:rPr lang="sk-SK" sz="2000" u="none" strike="noStrike" dirty="0" smtClean="0">
                          <a:effectLst/>
                        </a:rPr>
                        <a:t>325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 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Vystup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45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50</a:t>
                      </a:r>
                      <a:r>
                        <a:rPr lang="en-US" sz="2000" u="none" strike="noStrike" dirty="0" smtClean="0">
                          <a:effectLst/>
                        </a:rPr>
                        <a:t> </a:t>
                      </a:r>
                      <a:r>
                        <a:rPr lang="sk-SK" sz="2000" u="none" strike="noStrike" dirty="0" smtClean="0">
                          <a:effectLst/>
                        </a:rPr>
                        <a:t>000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 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 smtClean="0">
                          <a:effectLst/>
                        </a:rPr>
                        <a:t>Číslo prúdu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 [kmol/h]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xA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xB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xC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7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619,13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0,0362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0,5557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0,4081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8 (G)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116,83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0,1838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0,8162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8 (L)</a:t>
                      </a:r>
                      <a:endParaRPr lang="sk-SK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502,30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0,0019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0,4951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0,503</a:t>
                      </a:r>
                      <a:r>
                        <a:rPr lang="en-US" sz="2000" u="none" strike="noStrike" dirty="0" smtClean="0">
                          <a:effectLst/>
                        </a:rPr>
                        <a:t>1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42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b="1" dirty="0"/>
              <a:t>SIMULÁCIA ČINNOSTI ODPARKY</a:t>
            </a:r>
            <a:endParaRPr lang="sk-SK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dirty="0" err="1"/>
              <a:t>Zvolíme</a:t>
            </a:r>
            <a:r>
              <a:rPr lang="en-US" dirty="0"/>
              <a:t> </a:t>
            </a:r>
            <a:r>
              <a:rPr lang="en-US" dirty="0" err="1"/>
              <a:t>požadovanú</a:t>
            </a:r>
            <a:r>
              <a:rPr lang="en-US" dirty="0"/>
              <a:t> </a:t>
            </a:r>
            <a:r>
              <a:rPr lang="en-US" dirty="0" err="1"/>
              <a:t>čistotu</a:t>
            </a:r>
            <a:r>
              <a:rPr lang="en-US" dirty="0"/>
              <a:t> </a:t>
            </a:r>
            <a:r>
              <a:rPr lang="en-US" dirty="0" err="1"/>
              <a:t>regenerovaného</a:t>
            </a:r>
            <a:r>
              <a:rPr lang="en-US" dirty="0"/>
              <a:t> </a:t>
            </a:r>
            <a:r>
              <a:rPr lang="en-US" dirty="0" err="1"/>
              <a:t>extrakčného</a:t>
            </a:r>
            <a:r>
              <a:rPr lang="en-US" dirty="0"/>
              <a:t> </a:t>
            </a:r>
            <a:r>
              <a:rPr lang="en-US" dirty="0" err="1"/>
              <a:t>rozpúšťadla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sk-SK" dirty="0"/>
              <a:t>Vypočítame mólové toky vystupujúcich prúdov.</a:t>
            </a:r>
            <a:endParaRPr lang="en-US" dirty="0" smtClean="0"/>
          </a:p>
          <a:p>
            <a:pPr fontAlgn="base"/>
            <a:r>
              <a:rPr lang="sk-SK" dirty="0" smtClean="0"/>
              <a:t>Použitie </a:t>
            </a:r>
            <a:r>
              <a:rPr lang="sk-SK" dirty="0"/>
              <a:t>NRTL rovnice a rozšíreného Raoultovho zákona – určenie mólových zlomkov komponentov v plynnej fáze</a:t>
            </a:r>
            <a:r>
              <a:rPr lang="ru-RU" dirty="0"/>
              <a:t> </a:t>
            </a:r>
          </a:p>
          <a:p>
            <a:pPr fontAlgn="base"/>
            <a:r>
              <a:rPr lang="sk-SK" dirty="0"/>
              <a:t>V každom </a:t>
            </a:r>
            <a:r>
              <a:rPr lang="sk-SK" dirty="0" smtClean="0"/>
              <a:t>kroku upravi</a:t>
            </a:r>
            <a:r>
              <a:rPr lang="en-US" dirty="0" smtClean="0"/>
              <a:t>me</a:t>
            </a:r>
            <a:r>
              <a:rPr lang="sk-SK" dirty="0" smtClean="0"/>
              <a:t> </a:t>
            </a:r>
            <a:r>
              <a:rPr lang="sk-SK" dirty="0"/>
              <a:t>teplotu tak, aby bol zabezpečený súčet mólových zlomkov v plynnej fáze, ktorý sa rovná jednej.</a:t>
            </a:r>
            <a:r>
              <a:rPr lang="ru-RU" dirty="0"/>
              <a:t> 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6041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3200" dirty="0"/>
              <a:t>Mólové toky a rovnovážne zloženia </a:t>
            </a:r>
            <a:r>
              <a:rPr lang="sk-SK" sz="3200" dirty="0" smtClean="0"/>
              <a:t>prúdov </a:t>
            </a:r>
            <a:r>
              <a:rPr lang="sk-SK" sz="3200" dirty="0"/>
              <a:t>prípade použitia </a:t>
            </a:r>
            <a:r>
              <a:rPr lang="sk-SK" sz="3200" dirty="0" smtClean="0"/>
              <a:t>čistej </a:t>
            </a:r>
            <a:r>
              <a:rPr lang="sk-SK" sz="3200" dirty="0"/>
              <a:t>IL 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119339"/>
              </p:ext>
            </p:extLst>
          </p:nvPr>
        </p:nvGraphicFramePr>
        <p:xfrm>
          <a:off x="179513" y="1916832"/>
          <a:ext cx="8507288" cy="411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3453"/>
                <a:gridCol w="1793695"/>
                <a:gridCol w="1688184"/>
                <a:gridCol w="1688184"/>
                <a:gridCol w="1393772"/>
              </a:tblGrid>
              <a:tr h="330561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Číslo prúdu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Odparka D-1 pri tlake 2,45 kPa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330561">
                <a:tc v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n [kmol/h]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xA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xB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xC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12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356,63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0,0019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0,4951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0,5031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173,57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0,0038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0,9962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16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183,07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2,34E-07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0,0200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0,9800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 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b="1" dirty="0">
                          <a:solidFill>
                            <a:schemeClr val="bg1"/>
                          </a:solidFill>
                          <a:effectLst/>
                        </a:rPr>
                        <a:t>Odparka D-2 pri tlake 73,5 kPa</a:t>
                      </a:r>
                      <a:endParaRPr lang="sk-SK" sz="2000" b="1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19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271,08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0,9994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0,0002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0,0005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270,58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0,9998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0,0002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056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0,49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0,7500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2,13E-05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0,2500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04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200" dirty="0"/>
              <a:t>Mólové toky a rovnovážne zloženia prúdov </a:t>
            </a:r>
            <a:r>
              <a:rPr lang="sk-SK" sz="3200" dirty="0" smtClean="0"/>
              <a:t>v</a:t>
            </a:r>
            <a:r>
              <a:rPr lang="sk-SK" sz="3200" dirty="0"/>
              <a:t> prípade použitia regenerovanej IL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540086"/>
              </p:ext>
            </p:extLst>
          </p:nvPr>
        </p:nvGraphicFramePr>
        <p:xfrm>
          <a:off x="467544" y="1844824"/>
          <a:ext cx="8229601" cy="411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9641"/>
                <a:gridCol w="1734800"/>
                <a:gridCol w="1632753"/>
                <a:gridCol w="1632753"/>
                <a:gridCol w="1349654"/>
              </a:tblGrid>
              <a:tr h="228600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Číslo prúdu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Odparka D-1 pri tlake 2,45 kPa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228600">
                <a:tc v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n [kmol/h]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xA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xB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xC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12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502,30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0,0019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0,4951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0,5031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244,45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0,0038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0,9962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16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257,84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 smtClean="0">
                          <a:effectLst/>
                        </a:rPr>
                        <a:t>2,34E-07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0,0200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0,9800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 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b="1" i="0" dirty="0">
                          <a:solidFill>
                            <a:schemeClr val="bg1"/>
                          </a:solidFill>
                          <a:effectLst/>
                        </a:rPr>
                        <a:t>Odparka D-2 pri tlake 73,5 kPa</a:t>
                      </a:r>
                      <a:endParaRPr lang="sk-SK" sz="2000" b="1" i="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19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287,21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0,9968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0,0005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0,0027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20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286,66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0,9972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0,0028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23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0,54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0,7497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>
                          <a:effectLst/>
                        </a:rPr>
                        <a:t>0,0003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8288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0,2500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211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b="1" dirty="0"/>
              <a:t>ENTALPICKÉ BILANCIE</a:t>
            </a:r>
            <a:endParaRPr lang="sk-SK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k-SK" dirty="0"/>
              <a:t>potrebné pre vyhodnotenie ekonomickej bilancie navrhnutého procesu</a:t>
            </a:r>
          </a:p>
          <a:p>
            <a:r>
              <a:rPr lang="sk-SK" dirty="0" smtClean="0"/>
              <a:t>investičné </a:t>
            </a:r>
            <a:r>
              <a:rPr lang="sk-SK" dirty="0"/>
              <a:t>náklady tvoria náklady na kúpu a inštaláciu používaných zariadení </a:t>
            </a:r>
          </a:p>
          <a:p>
            <a:r>
              <a:rPr lang="sk-SK" dirty="0"/>
              <a:t>prevádzkové náklady – množstvo použitého ohrevného a chladiaceho </a:t>
            </a:r>
            <a:r>
              <a:rPr lang="sk-SK" dirty="0" smtClean="0"/>
              <a:t>média</a:t>
            </a:r>
            <a:r>
              <a:rPr lang="en-US" dirty="0" smtClean="0"/>
              <a:t>, e</a:t>
            </a:r>
            <a:r>
              <a:rPr lang="sk-SK" dirty="0" smtClean="0"/>
              <a:t>lektrick</a:t>
            </a:r>
            <a:r>
              <a:rPr lang="en-US" dirty="0" err="1" smtClean="0"/>
              <a:t>ej</a:t>
            </a:r>
            <a:r>
              <a:rPr lang="sk-SK" dirty="0" smtClean="0"/>
              <a:t> energi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endParaRPr lang="sk-SK" dirty="0"/>
          </a:p>
          <a:p>
            <a:r>
              <a:rPr lang="sk-SK" dirty="0"/>
              <a:t>chladiace médium – chladiaca voda so vstupnou teplotou </a:t>
            </a:r>
            <a:r>
              <a:rPr lang="sk-SK" dirty="0" smtClean="0"/>
              <a:t>1</a:t>
            </a:r>
            <a:r>
              <a:rPr lang="en-US" dirty="0" smtClean="0"/>
              <a:t>5</a:t>
            </a:r>
            <a:r>
              <a:rPr lang="sk-SK" dirty="0" smtClean="0"/>
              <a:t> </a:t>
            </a:r>
            <a:r>
              <a:rPr lang="sk-SK" dirty="0"/>
              <a:t>°C, ktorá sa môže ohriať maximálne na teplotu </a:t>
            </a:r>
            <a:r>
              <a:rPr lang="en-US" dirty="0" smtClean="0"/>
              <a:t>35</a:t>
            </a:r>
            <a:r>
              <a:rPr lang="sk-SK" dirty="0" smtClean="0"/>
              <a:t> </a:t>
            </a:r>
            <a:r>
              <a:rPr lang="sk-SK" dirty="0"/>
              <a:t>°C</a:t>
            </a:r>
          </a:p>
          <a:p>
            <a:r>
              <a:rPr lang="sk-SK" dirty="0"/>
              <a:t>ohrevné médium – nasýtená para o takej teplote a tlaku, aké si vyžadujú podmienky v zariadení</a:t>
            </a:r>
            <a:endParaRPr lang="en-US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44259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Množstvá</a:t>
            </a:r>
            <a:r>
              <a:rPr lang="en-US" sz="2400" dirty="0"/>
              <a:t> </a:t>
            </a:r>
            <a:r>
              <a:rPr lang="en-US" sz="2400" dirty="0" err="1"/>
              <a:t>vymeneného</a:t>
            </a:r>
            <a:r>
              <a:rPr lang="en-US" sz="2400" dirty="0"/>
              <a:t> </a:t>
            </a:r>
            <a:r>
              <a:rPr lang="en-US" sz="2400" dirty="0" err="1"/>
              <a:t>tepla</a:t>
            </a:r>
            <a:r>
              <a:rPr lang="en-US" sz="2400" dirty="0"/>
              <a:t>, </a:t>
            </a:r>
            <a:r>
              <a:rPr lang="en-US" sz="2400" dirty="0" err="1"/>
              <a:t>hnacia</a:t>
            </a:r>
            <a:r>
              <a:rPr lang="en-US" sz="2400" dirty="0"/>
              <a:t> </a:t>
            </a:r>
            <a:r>
              <a:rPr lang="en-US" sz="2400" dirty="0" err="1"/>
              <a:t>sila</a:t>
            </a:r>
            <a:r>
              <a:rPr lang="en-US" sz="2400" dirty="0"/>
              <a:t>, </a:t>
            </a:r>
            <a:r>
              <a:rPr lang="en-US" sz="2400" dirty="0" err="1" smtClean="0"/>
              <a:t>úhrnný</a:t>
            </a:r>
            <a:r>
              <a:rPr lang="en-US" sz="2400" dirty="0" smtClean="0"/>
              <a:t> </a:t>
            </a:r>
            <a:r>
              <a:rPr lang="en-US" sz="2400" dirty="0" err="1"/>
              <a:t>koeficient</a:t>
            </a:r>
            <a:r>
              <a:rPr lang="en-US" sz="2400" dirty="0"/>
              <a:t> </a:t>
            </a:r>
            <a:r>
              <a:rPr lang="en-US" sz="2400" dirty="0" err="1"/>
              <a:t>prestupu</a:t>
            </a:r>
            <a:r>
              <a:rPr lang="en-US" sz="2400" dirty="0"/>
              <a:t> </a:t>
            </a:r>
            <a:r>
              <a:rPr lang="en-US" sz="2400" dirty="0" err="1"/>
              <a:t>tepla</a:t>
            </a:r>
            <a:r>
              <a:rPr lang="en-US" sz="2400" dirty="0"/>
              <a:t>, </a:t>
            </a:r>
            <a:r>
              <a:rPr lang="en-US" sz="2400" dirty="0" err="1" smtClean="0"/>
              <a:t>veľkosť</a:t>
            </a:r>
            <a:r>
              <a:rPr lang="en-US" sz="2400" dirty="0" smtClean="0"/>
              <a:t> </a:t>
            </a:r>
            <a:r>
              <a:rPr lang="en-US" sz="2400" dirty="0" err="1"/>
              <a:t>teplovýmennej</a:t>
            </a:r>
            <a:r>
              <a:rPr lang="en-US" sz="2400" dirty="0"/>
              <a:t> </a:t>
            </a:r>
            <a:r>
              <a:rPr lang="en-US" sz="2400" dirty="0" err="1"/>
              <a:t>plochy</a:t>
            </a:r>
            <a:r>
              <a:rPr lang="en-US" sz="2400" dirty="0"/>
              <a:t> a </a:t>
            </a:r>
            <a:r>
              <a:rPr lang="en-US" sz="2400" dirty="0" err="1"/>
              <a:t>spotreba</a:t>
            </a:r>
            <a:r>
              <a:rPr lang="en-US" sz="2400" dirty="0"/>
              <a:t> </a:t>
            </a:r>
            <a:r>
              <a:rPr lang="en-US" sz="2400" dirty="0" err="1"/>
              <a:t>teplonosného</a:t>
            </a:r>
            <a:r>
              <a:rPr lang="en-US" sz="2400" dirty="0"/>
              <a:t> </a:t>
            </a:r>
            <a:r>
              <a:rPr lang="en-US" sz="2400" dirty="0" err="1"/>
              <a:t>média</a:t>
            </a:r>
            <a:r>
              <a:rPr lang="en-US" sz="2400" dirty="0"/>
              <a:t> v </a:t>
            </a:r>
            <a:r>
              <a:rPr lang="en-US" sz="2400" dirty="0" err="1"/>
              <a:t>jednotlivých</a:t>
            </a:r>
            <a:r>
              <a:rPr lang="en-US" sz="2400" dirty="0"/>
              <a:t> </a:t>
            </a:r>
            <a:r>
              <a:rPr lang="en-US" sz="2400" dirty="0" err="1"/>
              <a:t>zariadeniach</a:t>
            </a:r>
            <a:endParaRPr lang="sk-SK" sz="24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51145"/>
              </p:ext>
            </p:extLst>
          </p:nvPr>
        </p:nvGraphicFramePr>
        <p:xfrm>
          <a:off x="107506" y="1556792"/>
          <a:ext cx="8856978" cy="496855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12308"/>
                <a:gridCol w="1368934"/>
                <a:gridCol w="1368934"/>
                <a:gridCol w="1368934"/>
                <a:gridCol w="1368934"/>
                <a:gridCol w="1368934"/>
              </a:tblGrid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Zariadenie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Q [kW]</a:t>
                      </a:r>
                      <a:endParaRPr lang="sk-SK" sz="2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∆t</a:t>
                      </a:r>
                      <a:r>
                        <a:rPr lang="sk-SK" sz="2000" u="none" strike="noStrike" baseline="-25000" dirty="0">
                          <a:effectLst/>
                        </a:rPr>
                        <a:t>ls</a:t>
                      </a:r>
                      <a:r>
                        <a:rPr lang="sk-SK" sz="2000" u="none" strike="noStrike" dirty="0">
                          <a:effectLst/>
                        </a:rPr>
                        <a:t> [K]</a:t>
                      </a:r>
                      <a:endParaRPr lang="sk-SK" sz="2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U [W/m</a:t>
                      </a:r>
                      <a:r>
                        <a:rPr lang="sk-SK" sz="2000" u="none" strike="noStrike" baseline="30000" dirty="0">
                          <a:effectLst/>
                        </a:rPr>
                        <a:t>2</a:t>
                      </a:r>
                      <a:r>
                        <a:rPr lang="sk-SK" sz="2000" u="none" strike="noStrike" dirty="0">
                          <a:effectLst/>
                        </a:rPr>
                        <a:t>/K]</a:t>
                      </a:r>
                      <a:endParaRPr lang="sk-SK" sz="2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A [m</a:t>
                      </a:r>
                      <a:r>
                        <a:rPr lang="sk-SK" sz="2000" u="none" strike="noStrike" baseline="30000" dirty="0">
                          <a:effectLst/>
                        </a:rPr>
                        <a:t>2</a:t>
                      </a:r>
                      <a:r>
                        <a:rPr lang="sk-SK" sz="2000" u="none" strike="noStrike" dirty="0">
                          <a:effectLst/>
                        </a:rPr>
                        <a:t>]</a:t>
                      </a:r>
                      <a:endParaRPr lang="sk-SK" sz="2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m [kg/s]</a:t>
                      </a:r>
                      <a:endParaRPr lang="sk-SK" sz="2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Ohrievač H-1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437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115,7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750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5,03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0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21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Ohrievač H-2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71</a:t>
                      </a:r>
                      <a:r>
                        <a:rPr lang="en-US" sz="2000" u="none" strike="noStrike" dirty="0" smtClean="0">
                          <a:effectLst/>
                        </a:rPr>
                        <a:t>6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94,</a:t>
                      </a:r>
                      <a:r>
                        <a:rPr lang="en-US" sz="2000" u="none" strike="noStrike" dirty="0" smtClean="0">
                          <a:effectLst/>
                        </a:rPr>
                        <a:t>9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890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8,48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0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34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Kondenzátor K-1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11</a:t>
                      </a:r>
                      <a:r>
                        <a:rPr lang="en-US" sz="2000" u="none" strike="noStrike" dirty="0" smtClean="0">
                          <a:effectLst/>
                        </a:rPr>
                        <a:t>60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15,</a:t>
                      </a:r>
                      <a:r>
                        <a:rPr lang="en-US" sz="2000" u="none" strike="noStrike" dirty="0" smtClean="0">
                          <a:effectLst/>
                        </a:rPr>
                        <a:t>6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1500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49,72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13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84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Kondenzátor K-2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2584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10,</a:t>
                      </a:r>
                      <a:r>
                        <a:rPr lang="en-US" sz="2000" u="none" strike="noStrike" dirty="0" smtClean="0">
                          <a:effectLst/>
                        </a:rPr>
                        <a:t>1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2250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114,15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30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84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Kondenzátor K-3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257</a:t>
                      </a:r>
                      <a:r>
                        <a:rPr lang="en-US" sz="2000" u="none" strike="noStrike" dirty="0" smtClean="0">
                          <a:effectLst/>
                        </a:rPr>
                        <a:t>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10,</a:t>
                      </a:r>
                      <a:r>
                        <a:rPr lang="en-US" sz="2000" u="none" strike="noStrike" dirty="0" smtClean="0">
                          <a:effectLst/>
                        </a:rPr>
                        <a:t>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750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323,35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29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00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Odparka D-1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24</a:t>
                      </a:r>
                      <a:r>
                        <a:rPr lang="en-US" sz="2000" u="none" strike="noStrike" dirty="0" smtClean="0">
                          <a:effectLst/>
                        </a:rPr>
                        <a:t>70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106,7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450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51,4</a:t>
                      </a:r>
                      <a:r>
                        <a:rPr lang="en-US" sz="2000" u="none" strike="noStrike" dirty="0" smtClean="0">
                          <a:effectLst/>
                        </a:rPr>
                        <a:t>2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17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  <a:tr h="62106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Odparka D-2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227</a:t>
                      </a:r>
                      <a:r>
                        <a:rPr lang="en-US" sz="2000" u="none" strike="noStrike" dirty="0" smtClean="0">
                          <a:effectLst/>
                        </a:rPr>
                        <a:t>7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107,0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>
                          <a:effectLst/>
                        </a:rPr>
                        <a:t>900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>
                          <a:effectLst/>
                        </a:rPr>
                        <a:t>23,63</a:t>
                      </a:r>
                      <a:endParaRPr lang="sk-SK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2000" u="none" strike="noStrike" dirty="0" smtClean="0">
                          <a:effectLst/>
                        </a:rPr>
                        <a:t>1</a:t>
                      </a:r>
                      <a:r>
                        <a:rPr lang="en-US" sz="2000" u="none" strike="noStrike" dirty="0" smtClean="0">
                          <a:effectLst/>
                        </a:rPr>
                        <a:t>,</a:t>
                      </a:r>
                      <a:r>
                        <a:rPr lang="sk-SK" sz="2000" u="none" strike="noStrike" dirty="0" smtClean="0">
                          <a:effectLst/>
                        </a:rPr>
                        <a:t>08</a:t>
                      </a:r>
                      <a:endParaRPr lang="sk-SK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912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>
            <a:normAutofit/>
          </a:bodyPr>
          <a:lstStyle/>
          <a:p>
            <a:r>
              <a:rPr lang="sk-SK" sz="2400" dirty="0"/>
              <a:t>Objemový tok, výkon a </a:t>
            </a:r>
            <a:r>
              <a:rPr lang="sk-SK" sz="2400" dirty="0" smtClean="0"/>
              <a:t>príkon pre </a:t>
            </a:r>
            <a:r>
              <a:rPr lang="sk-SK" sz="2400" dirty="0"/>
              <a:t>čerpadlá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544988"/>
                  </p:ext>
                </p:extLst>
              </p:nvPr>
            </p:nvGraphicFramePr>
            <p:xfrm>
              <a:off x="251520" y="1340767"/>
              <a:ext cx="8424936" cy="43806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06234"/>
                    <a:gridCol w="2106234"/>
                    <a:gridCol w="2106234"/>
                    <a:gridCol w="2106234"/>
                  </a:tblGrid>
                  <a:tr h="63935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 dirty="0">
                              <a:effectLst/>
                            </a:rPr>
                            <a:t>Čerpadlo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sk-SK" sz="2000" i="1">
                                      <a:effectLst/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oMath>
                          </a14:m>
                          <a:r>
                            <a:rPr lang="sk-SK" sz="2000">
                              <a:effectLst/>
                            </a:rPr>
                            <a:t> [m</a:t>
                          </a:r>
                          <a:r>
                            <a:rPr lang="sk-SK" sz="2000" baseline="30000">
                              <a:effectLst/>
                            </a:rPr>
                            <a:t>3</a:t>
                          </a:r>
                          <a:r>
                            <a:rPr lang="sk-SK" sz="2000">
                              <a:effectLst/>
                            </a:rPr>
                            <a:t>/h]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</a:t>
                          </a:r>
                          <a:r>
                            <a:rPr lang="sk-SK" sz="2000" baseline="-25000">
                              <a:effectLst/>
                            </a:rPr>
                            <a:t>v </a:t>
                          </a:r>
                          <a:r>
                            <a:rPr lang="sk-SK" sz="2000">
                              <a:effectLst/>
                            </a:rPr>
                            <a:t>[W]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 dirty="0">
                              <a:effectLst/>
                            </a:rPr>
                            <a:t>P</a:t>
                          </a:r>
                          <a:r>
                            <a:rPr lang="sk-SK" sz="2000" baseline="-25000" dirty="0">
                              <a:effectLst/>
                            </a:rPr>
                            <a:t>p </a:t>
                          </a:r>
                          <a:r>
                            <a:rPr lang="sk-SK" sz="2000" dirty="0">
                              <a:effectLst/>
                            </a:rPr>
                            <a:t>[kW]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P-1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52,19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555,56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793,66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6,56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111,82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159,75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P-3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10,03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304,67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435,25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47,34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2174,04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3105,76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P-5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34,30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324,02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462,88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0,07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0,96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1,88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544988"/>
                  </p:ext>
                </p:extLst>
              </p:nvPr>
            </p:nvGraphicFramePr>
            <p:xfrm>
              <a:off x="251520" y="1340767"/>
              <a:ext cx="8424936" cy="43806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06234"/>
                    <a:gridCol w="2106234"/>
                    <a:gridCol w="2106234"/>
                    <a:gridCol w="2106234"/>
                  </a:tblGrid>
                  <a:tr h="63935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 dirty="0">
                              <a:effectLst/>
                            </a:rPr>
                            <a:t>Čerpadlo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endParaRPr lang="sk-SK"/>
                        </a:p>
                      </a:txBody>
                      <a:tcPr marL="68566" marR="68566" marT="0" marB="0" anchor="ctr">
                        <a:blipFill rotWithShape="1">
                          <a:blip r:embed="rId2"/>
                          <a:stretch>
                            <a:fillRect l="-100290" t="-952" r="-200580" b="-58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</a:t>
                          </a:r>
                          <a:r>
                            <a:rPr lang="sk-SK" sz="2000" baseline="-25000">
                              <a:effectLst/>
                            </a:rPr>
                            <a:t>v </a:t>
                          </a:r>
                          <a:r>
                            <a:rPr lang="sk-SK" sz="2000">
                              <a:effectLst/>
                            </a:rPr>
                            <a:t>[W]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 dirty="0">
                              <a:effectLst/>
                            </a:rPr>
                            <a:t>P</a:t>
                          </a:r>
                          <a:r>
                            <a:rPr lang="sk-SK" sz="2000" baseline="-25000" dirty="0">
                              <a:effectLst/>
                            </a:rPr>
                            <a:t>p </a:t>
                          </a:r>
                          <a:r>
                            <a:rPr lang="sk-SK" sz="2000" dirty="0">
                              <a:effectLst/>
                            </a:rPr>
                            <a:t>[kW]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P-1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52,19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555,56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793,66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6,56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111,82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159,75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P-3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10,03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304,67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435,25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47,34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2174,04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3105,76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P-5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34,30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324,02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462,88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  <a:tr h="6235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sk-SK" sz="2000">
                              <a:effectLst/>
                            </a:rPr>
                            <a:t>P-6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7909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0,07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15925" algn="dec"/>
                            </a:tabLst>
                          </a:pPr>
                          <a:r>
                            <a:rPr lang="sk-SK" sz="2000">
                              <a:effectLst/>
                            </a:rPr>
                            <a:t>0,96</a:t>
                          </a:r>
                          <a:endParaRPr lang="sk-SK" sz="200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66" marR="68566" marT="0" marB="0" anchor="ctr"/>
                    </a:tc>
                    <a:tc>
                      <a:txBody>
                        <a:bodyPr/>
                        <a:lstStyle/>
                        <a:p>
                          <a:pPr marL="0" marR="18415" indent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52755" algn="dec"/>
                            </a:tabLst>
                          </a:pPr>
                          <a:r>
                            <a:rPr lang="sk-SK" sz="2000" dirty="0">
                              <a:effectLst/>
                            </a:rPr>
                            <a:t>1,88</a:t>
                          </a:r>
                          <a:endParaRPr lang="sk-SK" sz="20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0" marR="0" marT="0" marB="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7875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PREVÁDZKOVÉ NÁKLADY</a:t>
            </a:r>
            <a:endParaRPr lang="sk-SK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665738"/>
              </p:ext>
            </p:extLst>
          </p:nvPr>
        </p:nvGraphicFramePr>
        <p:xfrm>
          <a:off x="467544" y="1628801"/>
          <a:ext cx="8219256" cy="26534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4109628"/>
                <a:gridCol w="4109628"/>
              </a:tblGrid>
              <a:tr h="66337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Ohrevná para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20955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8435" algn="dec"/>
                        </a:tabLst>
                      </a:pPr>
                      <a:r>
                        <a:rPr lang="sk-SK" sz="2000" dirty="0">
                          <a:effectLst/>
                        </a:rPr>
                        <a:t>265 917 €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337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Chladiaca voda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20955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8435" algn="dec"/>
                        </a:tabLst>
                      </a:pPr>
                      <a:r>
                        <a:rPr lang="sk-SK" sz="2000">
                          <a:effectLst/>
                        </a:rPr>
                        <a:t>403 714 €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337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Elektrická energia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20955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8435" algn="dec"/>
                        </a:tabLst>
                      </a:pPr>
                      <a:r>
                        <a:rPr lang="sk-SK" sz="2000">
                          <a:effectLst/>
                        </a:rPr>
                        <a:t>6 754 €</a:t>
                      </a:r>
                      <a:endParaRPr lang="sk-SK" sz="2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337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k-SK" sz="2000" dirty="0">
                          <a:effectLst/>
                        </a:rPr>
                        <a:t>∑</a:t>
                      </a:r>
                      <a:endParaRPr lang="sk-SK" sz="2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20955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8435" algn="dec"/>
                        </a:tabLst>
                      </a:pPr>
                      <a:r>
                        <a:rPr lang="sk-SK" sz="2000" b="1" dirty="0">
                          <a:effectLst/>
                        </a:rPr>
                        <a:t>676 386 €</a:t>
                      </a:r>
                      <a:endParaRPr lang="sk-SK" sz="2000" b="1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93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INVESTIČNÉ NÁKLADY</a:t>
            </a:r>
            <a:endParaRPr lang="sk-SK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719421"/>
              </p:ext>
            </p:extLst>
          </p:nvPr>
        </p:nvGraphicFramePr>
        <p:xfrm>
          <a:off x="251519" y="1196747"/>
          <a:ext cx="8424937" cy="541572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139666"/>
                <a:gridCol w="2942043"/>
                <a:gridCol w="3343228"/>
              </a:tblGrid>
              <a:tr h="308419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Zariadenia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Cena v 2002 [€]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Cena v 2025 [€]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Čerpadlo P-1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2 617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5 193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Čerpadlo P-2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1 825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3 621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Čerpadlo P-3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1 888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3 747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Čerpadlo P-4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8 456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1 6781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Čerpadlo P-5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2 380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4 722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Čerpadlo P-6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1 540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3 055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Extrakčná kolóna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1 848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3 667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Ohrievač H-1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2 156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4 278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Ohrievač H-2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8 624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17 112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Kondenzátor pár K-1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20 240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40 162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Kondenzátor pár K-2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61 600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122 234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Kondenzátor pár K-3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147 840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293 362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411225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Odparka extraktu D-1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103 488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205 354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411225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Odparka rafinátu D-2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37 594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74 598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Iónová kvapalina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-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 dirty="0">
                          <a:effectLst/>
                        </a:rPr>
                        <a:t>1 164 891</a:t>
                      </a:r>
                      <a:endParaRPr lang="sk-SK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</a:tr>
              <a:tr h="306061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800" u="none" strike="noStrike">
                          <a:effectLst/>
                        </a:rPr>
                        <a:t>∑</a:t>
                      </a:r>
                      <a:endParaRPr lang="sk-SK" sz="1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k-SK" sz="1800" b="1" u="none" strike="noStrike" dirty="0">
                          <a:effectLst/>
                        </a:rPr>
                        <a:t>402 096</a:t>
                      </a:r>
                      <a:endParaRPr lang="sk-SK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24" marR="7324" marT="732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k-SK" sz="1800" b="1" u="none" strike="noStrike" dirty="0">
                          <a:effectLst/>
                        </a:rPr>
                        <a:t>1 962 782</a:t>
                      </a:r>
                      <a:endParaRPr lang="sk-SK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24" marR="7324" marT="7324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817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ZÁVER</a:t>
            </a:r>
            <a:endParaRPr lang="sk-SK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Úspešne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</a:t>
            </a:r>
            <a:r>
              <a:rPr lang="en-US" dirty="0" err="1"/>
              <a:t>zrealizovali</a:t>
            </a:r>
            <a:r>
              <a:rPr lang="en-US" dirty="0"/>
              <a:t>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produkciu</a:t>
            </a:r>
            <a:r>
              <a:rPr lang="en-US" dirty="0"/>
              <a:t> MTBE s </a:t>
            </a:r>
            <a:r>
              <a:rPr lang="en-US" dirty="0" err="1"/>
              <a:t>kapacitou</a:t>
            </a:r>
            <a:r>
              <a:rPr lang="en-US" dirty="0"/>
              <a:t> 7 </a:t>
            </a:r>
            <a:r>
              <a:rPr lang="en-US" dirty="0" smtClean="0"/>
              <a:t>kg/s</a:t>
            </a:r>
          </a:p>
          <a:p>
            <a:r>
              <a:rPr lang="en-US" dirty="0" err="1"/>
              <a:t>Zlepšením</a:t>
            </a:r>
            <a:r>
              <a:rPr lang="en-US" dirty="0"/>
              <a:t> </a:t>
            </a:r>
            <a:r>
              <a:rPr lang="en-US" dirty="0" err="1"/>
              <a:t>navrhnutého</a:t>
            </a:r>
            <a:r>
              <a:rPr lang="en-US" dirty="0"/>
              <a:t> </a:t>
            </a:r>
            <a:r>
              <a:rPr lang="en-US" dirty="0" err="1"/>
              <a:t>separačného</a:t>
            </a:r>
            <a:r>
              <a:rPr lang="en-US" dirty="0"/>
              <a:t>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</a:t>
            </a:r>
            <a:r>
              <a:rPr lang="en-US" dirty="0" err="1"/>
              <a:t>dosiahli</a:t>
            </a:r>
            <a:r>
              <a:rPr lang="en-US" dirty="0"/>
              <a:t> </a:t>
            </a:r>
            <a:r>
              <a:rPr lang="en-US" dirty="0" err="1"/>
              <a:t>výťažok</a:t>
            </a:r>
            <a:r>
              <a:rPr lang="en-US" dirty="0"/>
              <a:t> </a:t>
            </a:r>
            <a:r>
              <a:rPr lang="en-US" dirty="0" err="1"/>
              <a:t>prúdu</a:t>
            </a:r>
            <a:r>
              <a:rPr lang="en-US" dirty="0"/>
              <a:t> MTBE s </a:t>
            </a:r>
            <a:r>
              <a:rPr lang="en-US" dirty="0" err="1"/>
              <a:t>čistotou</a:t>
            </a:r>
            <a:r>
              <a:rPr lang="en-US" dirty="0"/>
              <a:t> 99,72 </a:t>
            </a:r>
            <a:r>
              <a:rPr lang="en-US" dirty="0" err="1"/>
              <a:t>mól</a:t>
            </a:r>
            <a:r>
              <a:rPr lang="en-US" dirty="0"/>
              <a:t>. % a </a:t>
            </a:r>
            <a:r>
              <a:rPr lang="en-US" dirty="0" err="1"/>
              <a:t>metanolu</a:t>
            </a:r>
            <a:r>
              <a:rPr lang="en-US" dirty="0"/>
              <a:t> s </a:t>
            </a:r>
            <a:r>
              <a:rPr lang="en-US" dirty="0" err="1"/>
              <a:t>čistotou</a:t>
            </a:r>
            <a:r>
              <a:rPr lang="en-US" dirty="0"/>
              <a:t> 99,62 </a:t>
            </a:r>
            <a:r>
              <a:rPr lang="en-US" dirty="0" err="1"/>
              <a:t>mól</a:t>
            </a:r>
            <a:r>
              <a:rPr lang="en-US" dirty="0"/>
              <a:t>. %, </a:t>
            </a:r>
            <a:r>
              <a:rPr lang="en-US" dirty="0" err="1"/>
              <a:t>pričom</a:t>
            </a:r>
            <a:r>
              <a:rPr lang="en-US" dirty="0"/>
              <a:t> bola </a:t>
            </a:r>
            <a:r>
              <a:rPr lang="en-US" dirty="0" err="1"/>
              <a:t>aplikovaná</a:t>
            </a:r>
            <a:r>
              <a:rPr lang="en-US" dirty="0"/>
              <a:t> </a:t>
            </a:r>
            <a:r>
              <a:rPr lang="en-US" dirty="0" err="1"/>
              <a:t>regenerovaná</a:t>
            </a:r>
            <a:r>
              <a:rPr lang="en-US" dirty="0"/>
              <a:t> </a:t>
            </a:r>
            <a:r>
              <a:rPr lang="en-US" dirty="0" err="1"/>
              <a:t>iónová</a:t>
            </a:r>
            <a:r>
              <a:rPr lang="en-US" dirty="0"/>
              <a:t> </a:t>
            </a:r>
            <a:r>
              <a:rPr lang="en-US" dirty="0" err="1" smtClean="0"/>
              <a:t>kvapalina</a:t>
            </a:r>
            <a:endParaRPr lang="en-US" dirty="0" smtClean="0"/>
          </a:p>
          <a:p>
            <a:r>
              <a:rPr lang="en-US" dirty="0" err="1"/>
              <a:t>Nastavili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regenerácie</a:t>
            </a:r>
            <a:r>
              <a:rPr lang="en-US" dirty="0"/>
              <a:t> </a:t>
            </a:r>
            <a:r>
              <a:rPr lang="en-US" dirty="0" err="1"/>
              <a:t>ionovej</a:t>
            </a:r>
            <a:r>
              <a:rPr lang="en-US" dirty="0"/>
              <a:t> </a:t>
            </a:r>
            <a:r>
              <a:rPr lang="en-US" dirty="0" err="1"/>
              <a:t>kvapaliny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</a:t>
            </a:r>
            <a:r>
              <a:rPr lang="en-US" dirty="0" err="1"/>
              <a:t>aby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</a:t>
            </a:r>
            <a:r>
              <a:rPr lang="en-US" dirty="0" err="1"/>
              <a:t>nepretržite</a:t>
            </a:r>
            <a:r>
              <a:rPr lang="en-US" dirty="0"/>
              <a:t> </a:t>
            </a:r>
            <a:r>
              <a:rPr lang="en-US" dirty="0" err="1"/>
              <a:t>získavali</a:t>
            </a:r>
            <a:r>
              <a:rPr lang="en-US" dirty="0"/>
              <a:t> </a:t>
            </a:r>
            <a:r>
              <a:rPr lang="en-US" dirty="0" err="1"/>
              <a:t>iónovú</a:t>
            </a:r>
            <a:r>
              <a:rPr lang="en-US" dirty="0"/>
              <a:t> </a:t>
            </a:r>
            <a:r>
              <a:rPr lang="en-US" dirty="0" err="1"/>
              <a:t>kvapalinu</a:t>
            </a:r>
            <a:r>
              <a:rPr lang="en-US" dirty="0"/>
              <a:t> s </a:t>
            </a:r>
            <a:r>
              <a:rPr lang="en-US" dirty="0" err="1"/>
              <a:t>čistotou</a:t>
            </a:r>
            <a:r>
              <a:rPr lang="en-US" dirty="0"/>
              <a:t> </a:t>
            </a:r>
            <a:r>
              <a:rPr lang="en-US" dirty="0" smtClean="0"/>
              <a:t>         98 </a:t>
            </a:r>
            <a:r>
              <a:rPr lang="en-US" dirty="0" err="1"/>
              <a:t>mól</a:t>
            </a:r>
            <a:r>
              <a:rPr lang="en-US" dirty="0"/>
              <a:t>. </a:t>
            </a:r>
            <a:r>
              <a:rPr lang="en-US" dirty="0" smtClean="0"/>
              <a:t>%</a:t>
            </a:r>
          </a:p>
          <a:p>
            <a:r>
              <a:rPr lang="en-US" dirty="0" smtClean="0"/>
              <a:t>V</a:t>
            </a:r>
            <a:r>
              <a:rPr lang="sk-SK" dirty="0" smtClean="0"/>
              <a:t>yhodnotili </a:t>
            </a:r>
            <a:r>
              <a:rPr lang="sk-SK" dirty="0"/>
              <a:t>sme vybrané investičné a prevádzkové náklady</a:t>
            </a:r>
          </a:p>
          <a:p>
            <a:r>
              <a:rPr lang="sk-SK" dirty="0"/>
              <a:t>investičné náklady – 1 962 </a:t>
            </a:r>
            <a:r>
              <a:rPr lang="sk-SK" dirty="0" smtClean="0"/>
              <a:t>782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sk-SK" dirty="0" smtClean="0"/>
              <a:t>€</a:t>
            </a:r>
            <a:endParaRPr lang="sk-SK" dirty="0"/>
          </a:p>
          <a:p>
            <a:r>
              <a:rPr lang="sk-SK" dirty="0"/>
              <a:t>prevádzkové náklady – 676 386 </a:t>
            </a:r>
            <a:r>
              <a:rPr lang="sk-SK" dirty="0" smtClean="0"/>
              <a:t>€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72061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758281"/>
            <a:ext cx="8424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sk-SK" sz="4400" b="1" dirty="0"/>
              <a:t>Ďakujem za pozornosť </a:t>
            </a:r>
          </a:p>
        </p:txBody>
      </p:sp>
    </p:spTree>
    <p:extLst>
      <p:ext uri="{BB962C8B-B14F-4D97-AF65-F5344CB8AC3E}">
        <p14:creationId xmlns:p14="http://schemas.microsoft.com/office/powerpoint/2010/main" val="2186368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485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92500"/>
          </a:bodyPr>
          <a:lstStyle/>
          <a:p>
            <a:r>
              <a:rPr lang="sk-SK" dirty="0"/>
              <a:t>Aký je rozdiel medzi destiláciou a </a:t>
            </a:r>
            <a:r>
              <a:rPr lang="sk-SK" dirty="0" smtClean="0"/>
              <a:t>odparovaním</a:t>
            </a:r>
            <a:r>
              <a:rPr lang="en-US" dirty="0" smtClean="0"/>
              <a:t>?</a:t>
            </a:r>
          </a:p>
          <a:p>
            <a:r>
              <a:rPr lang="sk-SK" dirty="0" smtClean="0"/>
              <a:t>Prečo </a:t>
            </a:r>
            <a:r>
              <a:rPr lang="sk-SK" dirty="0"/>
              <a:t>ste použili 5 stupňovú extrakčnú kolónu? Nebolo by ekonomicky výhodnejšie použiť viac stupňovú kolónu, ak používate regenerovanú iónovú kvapalinu</a:t>
            </a:r>
            <a:r>
              <a:rPr lang="sk-SK" dirty="0" smtClean="0"/>
              <a:t>?</a:t>
            </a:r>
            <a:endParaRPr lang="en-US" dirty="0" smtClean="0"/>
          </a:p>
          <a:p>
            <a:r>
              <a:rPr lang="sk-SK" dirty="0"/>
              <a:t>V rovnici 61 pravdepodobne došlo k preklepu. Uveďte tabuľku prietokov chladiacich a ohrevných médií vo výmenníkoch tepla a kondenzátoroch</a:t>
            </a:r>
            <a:r>
              <a:rPr lang="sk-SK" dirty="0" smtClean="0"/>
              <a:t>.</a:t>
            </a:r>
            <a:endParaRPr lang="en-US" dirty="0" smtClean="0"/>
          </a:p>
          <a:p>
            <a:r>
              <a:rPr lang="sk-SK" dirty="0"/>
              <a:t>Ako ste určili potrebné množstvo iónovej kvapaliny, ktoré potrebujete zabezpečiť?</a:t>
            </a:r>
          </a:p>
        </p:txBody>
      </p:sp>
    </p:spTree>
    <p:extLst>
      <p:ext uri="{BB962C8B-B14F-4D97-AF65-F5344CB8AC3E}">
        <p14:creationId xmlns:p14="http://schemas.microsoft.com/office/powerpoint/2010/main" val="89705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63079876"/>
              </p:ext>
            </p:extLst>
          </p:nvPr>
        </p:nvGraphicFramePr>
        <p:xfrm>
          <a:off x="0" y="116632"/>
          <a:ext cx="4495800" cy="6009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Объект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7250216"/>
              </p:ext>
            </p:extLst>
          </p:nvPr>
        </p:nvGraphicFramePr>
        <p:xfrm>
          <a:off x="4648200" y="188640"/>
          <a:ext cx="4316288" cy="5937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0653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</TotalTime>
  <Words>1219</Words>
  <Application>Microsoft Office PowerPoint</Application>
  <PresentationFormat>Экран (4:3)</PresentationFormat>
  <Paragraphs>443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SEPARÁCIA ZLOŽIEK ZMESI TVORIACICH AZEOTROP POMOCOU IÓNOVEJ KVAPALINY</vt:lpstr>
      <vt:lpstr>CIELE PRÁCE</vt:lpstr>
      <vt:lpstr>Metyl-terc-butyléter</vt:lpstr>
      <vt:lpstr>Презентация PowerPoint</vt:lpstr>
      <vt:lpstr>SIMULÁCIA ROVNOVÁHY</vt:lpstr>
      <vt:lpstr>Презентация PowerPoint</vt:lpstr>
      <vt:lpstr>SIMULÁCIA EXTRAKTORA</vt:lpstr>
      <vt:lpstr> Mólové toky a rovnovážne zloženia prúdov v extraktore s čistou iónovou kvapalinou</vt:lpstr>
      <vt:lpstr>Mólové toky a rovnovážne zloženia prúdov v extraktore v prípade použitia regenerovanej IL</vt:lpstr>
      <vt:lpstr>Parametre extrakčnej kolóny</vt:lpstr>
      <vt:lpstr>Opis navrhnutého procesu</vt:lpstr>
      <vt:lpstr>SIMULÁCIA ŠKRTIACEHO VENTILU</vt:lpstr>
      <vt:lpstr>Teplota, tlak, mólové toky a zloženia prúdov škrtiaceho ventilu V-1</vt:lpstr>
      <vt:lpstr>SIMULÁCIA ČINNOSTI ODPARKY</vt:lpstr>
      <vt:lpstr>Mólové toky a rovnovážne zloženia prúdov prípade použitia čistej IL </vt:lpstr>
      <vt:lpstr>Mólové toky a rovnovážne zloženia prúdov v prípade použitia regenerovanej IL</vt:lpstr>
      <vt:lpstr>ENTALPICKÉ BILANCIE</vt:lpstr>
      <vt:lpstr>Množstvá vymeneného tepla, hnacia sila, úhrnný koeficient prestupu tepla, veľkosť teplovýmennej plochy a spotreba teplonosného média v jednotlivých zariadeniach</vt:lpstr>
      <vt:lpstr>Objemový tok, výkon a príkon pre čerpadlá</vt:lpstr>
      <vt:lpstr>PREVÁDZKOVÉ NÁKLADY</vt:lpstr>
      <vt:lpstr>INVESTIČNÉ NÁKLADY</vt:lpstr>
      <vt:lpstr>ZÁVER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SEPARÁCIA ZLOŽIEK ZMESI TVORIACICH AZEOTROP POMOCOU IÓNOVEJ KVAPALINY</dc:title>
  <dc:creator>baran</dc:creator>
  <cp:lastModifiedBy>Sasha</cp:lastModifiedBy>
  <cp:revision>76</cp:revision>
  <dcterms:created xsi:type="dcterms:W3CDTF">2025-06-17T11:17:22Z</dcterms:created>
  <dcterms:modified xsi:type="dcterms:W3CDTF">2025-06-24T04:43:02Z</dcterms:modified>
</cp:coreProperties>
</file>